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9" r:id="rId2"/>
    <p:sldId id="257" r:id="rId3"/>
    <p:sldId id="258" r:id="rId4"/>
    <p:sldId id="273" r:id="rId5"/>
    <p:sldId id="275" r:id="rId6"/>
    <p:sldId id="274" r:id="rId7"/>
    <p:sldId id="260" r:id="rId8"/>
    <p:sldId id="261" r:id="rId9"/>
    <p:sldId id="262" r:id="rId10"/>
    <p:sldId id="263" r:id="rId11"/>
    <p:sldId id="264" r:id="rId12"/>
    <p:sldId id="271" r:id="rId13"/>
    <p:sldId id="265" r:id="rId14"/>
    <p:sldId id="266" r:id="rId15"/>
    <p:sldId id="267" r:id="rId16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4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7030A0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7030A0"/>
                </a:solidFill>
                <a:latin typeface="+mn-lt"/>
              </a:rPr>
              <a:t>Purchase Rate by Region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Buyers</c:v>
                </c:pt>
              </c:strCache>
            </c:strRef>
          </c:tx>
          <c:spPr>
            <a:solidFill>
              <a:srgbClr val="2F5597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1E2E"/>
                    </a:solidFill>
                    <a:latin typeface="+mn-lt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Pacific</c:v>
                </c:pt>
                <c:pt idx="1">
                  <c:v>North America</c:v>
                </c:pt>
                <c:pt idx="2">
                  <c:v>Europe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58.85</c:v>
                </c:pt>
                <c:pt idx="1">
                  <c:v>43.31</c:v>
                </c:pt>
                <c:pt idx="2">
                  <c:v>49.33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48-4B0E-963E-B2971A65C2F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Baseline (48.1%)</c:v>
                </c:pt>
              </c:strCache>
            </c:strRef>
          </c:tx>
          <c:spPr>
            <a:ln w="25400" cap="flat">
              <a:solidFill>
                <a:srgbClr val="ED7D31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Pacific</c:v>
                </c:pt>
                <c:pt idx="1">
                  <c:v>North America</c:v>
                </c:pt>
                <c:pt idx="2">
                  <c:v>Europe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48.1</c:v>
                </c:pt>
                <c:pt idx="1">
                  <c:v>48.1</c:v>
                </c:pt>
                <c:pt idx="2">
                  <c:v>48.1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148-4B0E-963E-B2971A65C2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1E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1E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7030A0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7030A0"/>
                </a:solidFill>
                <a:latin typeface="+mn-lt"/>
              </a:rPr>
              <a:t>Purchase Rate by Commute Distance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Buyers</c:v>
                </c:pt>
              </c:strCache>
            </c:strRef>
          </c:tx>
          <c:spPr>
            <a:solidFill>
              <a:srgbClr val="2F5597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1E2E"/>
                    </a:solidFill>
                    <a:latin typeface="+mn-lt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0–1 miles</c:v>
                </c:pt>
                <c:pt idx="1">
                  <c:v>1–2 miles</c:v>
                </c:pt>
                <c:pt idx="2">
                  <c:v>2–5 miles</c:v>
                </c:pt>
                <c:pt idx="3">
                  <c:v>5–10 miles</c:v>
                </c:pt>
                <c:pt idx="4">
                  <c:v>10+ miles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54.64</c:v>
                </c:pt>
                <c:pt idx="1">
                  <c:v>45.56</c:v>
                </c:pt>
                <c:pt idx="2">
                  <c:v>58.64</c:v>
                </c:pt>
                <c:pt idx="3">
                  <c:v>39.58</c:v>
                </c:pt>
                <c:pt idx="4">
                  <c:v>29.73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1A-4D23-940C-774D6FB9029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Baseline (48.1%)</c:v>
                </c:pt>
              </c:strCache>
            </c:strRef>
          </c:tx>
          <c:spPr>
            <a:ln w="25400" cap="flat">
              <a:solidFill>
                <a:srgbClr val="ED7D31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0–1 miles</c:v>
                </c:pt>
                <c:pt idx="1">
                  <c:v>1–2 miles</c:v>
                </c:pt>
                <c:pt idx="2">
                  <c:v>2–5 miles</c:v>
                </c:pt>
                <c:pt idx="3">
                  <c:v>5–10 miles</c:v>
                </c:pt>
                <c:pt idx="4">
                  <c:v>10+ miles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48.1</c:v>
                </c:pt>
                <c:pt idx="1">
                  <c:v>48.1</c:v>
                </c:pt>
                <c:pt idx="2">
                  <c:v>48.1</c:v>
                </c:pt>
                <c:pt idx="3">
                  <c:v>48.1</c:v>
                </c:pt>
                <c:pt idx="4">
                  <c:v>48.1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01A-4D23-940C-774D6FB902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1E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1E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9187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C707-0339-1B75-9FF8-ADE5B781A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7CBF8F-833B-8A76-B3B8-9EDEA0C84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98E838-9B65-9933-EE3A-4BA56CB0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DE6EE-A7C7-939C-9747-ED5D4D0F2B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088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BC480-BACE-35E5-B5CA-91FB7F6C6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E5F50F-9B27-7BE3-2E7C-0D0E008B75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8D3489-9B76-1172-F6B6-9D1B8ED1A9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B9DF7-6DA7-7FEC-F4E5-0C85E9BBA1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9066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F55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989320"/>
            <a:ext cx="502920" cy="5029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84048"/>
            <a:ext cx="576072" cy="5760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</a:rPr>
              <a:t>Pedals Customer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60AE4A-8372-6F61-4493-DC0ACFEFA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Group pill text">
            <a:extLst>
              <a:ext uri="{FF2B5EF4-FFF2-40B4-BE49-F238E27FC236}">
                <a16:creationId xmlns:a16="http://schemas.microsoft.com/office/drawing/2014/main" id="{0E2BBBED-E503-C3F2-9A0C-81D26DB0EC49}"/>
              </a:ext>
            </a:extLst>
          </p:cNvPr>
          <p:cNvSpPr txBox="1"/>
          <p:nvPr/>
        </p:nvSpPr>
        <p:spPr>
          <a:xfrm>
            <a:off x="4843849" y="153577"/>
            <a:ext cx="7055707" cy="770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344CF"/>
                </a:solidFill>
              </a:rPr>
              <a:t>GROUP 5 (The Data Whisperers)</a:t>
            </a:r>
            <a:endParaRPr lang="en-US" sz="4000" dirty="0">
              <a:solidFill>
                <a:srgbClr val="0344CF"/>
              </a:solidFill>
            </a:endParaRPr>
          </a:p>
        </p:txBody>
      </p:sp>
      <p:sp>
        <p:nvSpPr>
          <p:cNvPr id="7" name="Deck subtitle">
            <a:extLst>
              <a:ext uri="{FF2B5EF4-FFF2-40B4-BE49-F238E27FC236}">
                <a16:creationId xmlns:a16="http://schemas.microsoft.com/office/drawing/2014/main" id="{05F07310-A729-C402-5F47-9257DFFB2162}"/>
              </a:ext>
            </a:extLst>
          </p:cNvPr>
          <p:cNvSpPr txBox="1"/>
          <p:nvPr/>
        </p:nvSpPr>
        <p:spPr>
          <a:xfrm>
            <a:off x="727165" y="4346989"/>
            <a:ext cx="3696789" cy="770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Key Customer Characteristics Associated With High Purchase Rates</a:t>
            </a:r>
          </a:p>
        </p:txBody>
      </p:sp>
    </p:spTree>
    <p:extLst>
      <p:ext uri="{BB962C8B-B14F-4D97-AF65-F5344CB8AC3E}">
        <p14:creationId xmlns:p14="http://schemas.microsoft.com/office/powerpoint/2010/main" val="2934257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</a:rPr>
              <a:t>Business Context and Questions</a:t>
            </a:r>
            <a:endParaRPr lang="en-US" sz="3200" dirty="0"/>
          </a:p>
        </p:txBody>
      </p:sp>
      <p:sp>
        <p:nvSpPr>
          <p:cNvPr id="3" name="Context card"/>
          <p:cNvSpPr/>
          <p:nvPr/>
        </p:nvSpPr>
        <p:spPr>
          <a:xfrm>
            <a:off x="548640" y="1371600"/>
            <a:ext cx="4937760" cy="4663440"/>
          </a:xfrm>
          <a:prstGeom prst="roundRect">
            <a:avLst>
              <a:gd name="adj" fmla="val 2353"/>
            </a:avLst>
          </a:prstGeom>
          <a:solidFill>
            <a:srgbClr val="EEF2F9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Context pill"/>
          <p:cNvSpPr/>
          <p:nvPr/>
        </p:nvSpPr>
        <p:spPr>
          <a:xfrm>
            <a:off x="822960" y="160020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Context pill text"/>
          <p:cNvSpPr txBox="1"/>
          <p:nvPr/>
        </p:nvSpPr>
        <p:spPr>
          <a:xfrm>
            <a:off x="822960" y="16002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BUSINESS CONTEXT</a:t>
            </a:r>
            <a:endParaRPr lang="en-US" dirty="0"/>
          </a:p>
        </p:txBody>
      </p:sp>
      <p:sp>
        <p:nvSpPr>
          <p:cNvPr id="6" name="Context text"/>
          <p:cNvSpPr txBox="1"/>
          <p:nvPr/>
        </p:nvSpPr>
        <p:spPr>
          <a:xfrm>
            <a:off x="444843" y="2107474"/>
            <a:ext cx="5180894" cy="3744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E1E2E"/>
                </a:solidFill>
              </a:rPr>
              <a:t>A bicycle retailer records customer details and whether each customer bought a bike.</a:t>
            </a:r>
            <a:endParaRPr lang="en-US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E1E2E"/>
                </a:solidFill>
              </a:rPr>
              <a:t>The company lacks a clear view of which customer characteristics are linked to purchasing.</a:t>
            </a:r>
            <a:endParaRPr lang="en-US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E1E2E"/>
                </a:solidFill>
              </a:rPr>
              <a:t>This analysis finds purchasing patterns and customer segments to support their initial campaign testing. For targeted marketing and sales.</a:t>
            </a:r>
            <a:endParaRPr lang="en-US" dirty="0"/>
          </a:p>
        </p:txBody>
      </p:sp>
      <p:sp>
        <p:nvSpPr>
          <p:cNvPr id="7" name="Questions card"/>
          <p:cNvSpPr/>
          <p:nvPr/>
        </p:nvSpPr>
        <p:spPr>
          <a:xfrm>
            <a:off x="5852160" y="1371600"/>
            <a:ext cx="5788152" cy="4663440"/>
          </a:xfrm>
          <a:prstGeom prst="roundRect">
            <a:avLst>
              <a:gd name="adj" fmla="val 2353"/>
            </a:avLst>
          </a:prstGeom>
          <a:solidFill>
            <a:srgbClr val="EEF2F9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Questions pill"/>
          <p:cNvSpPr/>
          <p:nvPr/>
        </p:nvSpPr>
        <p:spPr>
          <a:xfrm>
            <a:off x="6126480" y="160020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Questions pill text"/>
          <p:cNvSpPr txBox="1"/>
          <p:nvPr/>
        </p:nvSpPr>
        <p:spPr>
          <a:xfrm>
            <a:off x="6126480" y="1600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BUSINESS WANTS TO KNOW</a:t>
            </a:r>
            <a:endParaRPr lang="en-US" dirty="0"/>
          </a:p>
        </p:txBody>
      </p:sp>
      <p:sp>
        <p:nvSpPr>
          <p:cNvPr id="10" name="Questions text"/>
          <p:cNvSpPr txBox="1"/>
          <p:nvPr/>
        </p:nvSpPr>
        <p:spPr>
          <a:xfrm>
            <a:off x="6008914" y="2054569"/>
            <a:ext cx="5421086" cy="39101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+mj-lt"/>
              <a:buAutoNum type="arabicPeriod"/>
            </a:pPr>
            <a:r>
              <a:rPr lang="en-US" dirty="0">
                <a:solidFill>
                  <a:srgbClr val="1E1E2E"/>
                </a:solidFill>
              </a:rPr>
              <a:t>What does the overall purchasing pattern look like (buyers vs non-buyers)?</a:t>
            </a:r>
            <a:endParaRPr lang="en-US" dirty="0"/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+mj-lt"/>
              <a:buAutoNum type="arabicPeriod"/>
            </a:pPr>
            <a:r>
              <a:rPr lang="en-US" dirty="0">
                <a:solidFill>
                  <a:srgbClr val="1E1E2E"/>
                </a:solidFill>
              </a:rPr>
              <a:t>Which customer characteristics are associated with higher purchase rates?</a:t>
            </a:r>
            <a:endParaRPr lang="en-US" dirty="0"/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+mj-lt"/>
              <a:buAutoNum type="arabicPeriod"/>
            </a:pPr>
            <a:r>
              <a:rPr lang="en-US" dirty="0">
                <a:solidFill>
                  <a:srgbClr val="1E1E2E"/>
                </a:solidFill>
              </a:rPr>
              <a:t>Which characteristics show the strongest associations?</a:t>
            </a:r>
            <a:endParaRPr lang="en-US" dirty="0"/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+mj-lt"/>
              <a:buAutoNum type="arabicPeriod"/>
            </a:pPr>
            <a:r>
              <a:rPr lang="en-US" dirty="0">
                <a:solidFill>
                  <a:srgbClr val="1E1E2E"/>
                </a:solidFill>
              </a:rPr>
              <a:t>Which characteristics offer the best targeting opportunities?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</a:rPr>
              <a:t>Analytical Objectives</a:t>
            </a:r>
            <a:endParaRPr lang="en-US" sz="3200" dirty="0"/>
          </a:p>
        </p:txBody>
      </p:sp>
      <p:sp>
        <p:nvSpPr>
          <p:cNvPr id="3" name="Data card"/>
          <p:cNvSpPr/>
          <p:nvPr/>
        </p:nvSpPr>
        <p:spPr>
          <a:xfrm>
            <a:off x="548640" y="1371600"/>
            <a:ext cx="10241280" cy="4663440"/>
          </a:xfrm>
          <a:prstGeom prst="roundRect">
            <a:avLst>
              <a:gd name="adj" fmla="val 2353"/>
            </a:avLst>
          </a:prstGeom>
          <a:solidFill>
            <a:srgbClr val="EEF2F9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Data pill"/>
          <p:cNvSpPr/>
          <p:nvPr/>
        </p:nvSpPr>
        <p:spPr>
          <a:xfrm>
            <a:off x="822960" y="160020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Data pill text"/>
          <p:cNvSpPr txBox="1"/>
          <p:nvPr/>
        </p:nvSpPr>
        <p:spPr>
          <a:xfrm>
            <a:off x="822960" y="16002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ANALYTICAL OBJECTIVES</a:t>
            </a:r>
            <a:endParaRPr lang="en-US" dirty="0"/>
          </a:p>
        </p:txBody>
      </p:sp>
      <p:sp>
        <p:nvSpPr>
          <p:cNvPr id="10" name="Objectives text"/>
          <p:cNvSpPr txBox="1"/>
          <p:nvPr/>
        </p:nvSpPr>
        <p:spPr>
          <a:xfrm>
            <a:off x="832103" y="2350008"/>
            <a:ext cx="9535215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7030A0"/>
                </a:solidFill>
              </a:rPr>
              <a:t>1  </a:t>
            </a:r>
            <a:r>
              <a:rPr lang="en-US" sz="2000" dirty="0">
                <a:solidFill>
                  <a:srgbClr val="1E1E2E"/>
                </a:solidFill>
              </a:rPr>
              <a:t>Explore the data and establish the purchasing baseline.</a:t>
            </a:r>
            <a:endParaRPr lang="en-US" sz="2000" dirty="0"/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7030A0"/>
                </a:solidFill>
              </a:rPr>
              <a:t>2  </a:t>
            </a:r>
            <a:r>
              <a:rPr lang="en-US" sz="2000" dirty="0">
                <a:solidFill>
                  <a:srgbClr val="1E1E2E"/>
                </a:solidFill>
              </a:rPr>
              <a:t>Compare purchase rates across customer characteristics.</a:t>
            </a:r>
            <a:endParaRPr lang="en-US" sz="2000" dirty="0"/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7030A0"/>
                </a:solidFill>
              </a:rPr>
              <a:t>3  </a:t>
            </a:r>
            <a:r>
              <a:rPr lang="en-US" sz="2000" dirty="0">
                <a:solidFill>
                  <a:srgbClr val="1E1E2E"/>
                </a:solidFill>
              </a:rPr>
              <a:t>Identify the strongest purchase-rate patterns.</a:t>
            </a:r>
            <a:endParaRPr lang="en-US" sz="2000" dirty="0"/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7030A0"/>
                </a:solidFill>
              </a:rPr>
              <a:t>4  </a:t>
            </a:r>
            <a:r>
              <a:rPr lang="en-US" sz="2000" dirty="0">
                <a:solidFill>
                  <a:srgbClr val="1E1E2E"/>
                </a:solidFill>
              </a:rPr>
              <a:t>Evaluate which characteristics and segments are most useful for targeting.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ives card">
            <a:extLst>
              <a:ext uri="{FF2B5EF4-FFF2-40B4-BE49-F238E27FC236}">
                <a16:creationId xmlns:a16="http://schemas.microsoft.com/office/drawing/2014/main" id="{F5D8A131-0961-213E-CEF4-547A75988AAF}"/>
              </a:ext>
            </a:extLst>
          </p:cNvPr>
          <p:cNvSpPr/>
          <p:nvPr/>
        </p:nvSpPr>
        <p:spPr>
          <a:xfrm>
            <a:off x="666994" y="1235673"/>
            <a:ext cx="10122925" cy="4663440"/>
          </a:xfrm>
          <a:prstGeom prst="roundRect">
            <a:avLst>
              <a:gd name="adj" fmla="val 2353"/>
            </a:avLst>
          </a:prstGeom>
          <a:solidFill>
            <a:srgbClr val="EEF2F9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Objectives pill">
            <a:extLst>
              <a:ext uri="{FF2B5EF4-FFF2-40B4-BE49-F238E27FC236}">
                <a16:creationId xmlns:a16="http://schemas.microsoft.com/office/drawing/2014/main" id="{19FBF1DC-8E3D-3474-618B-D041A18BDBC4}"/>
              </a:ext>
            </a:extLst>
          </p:cNvPr>
          <p:cNvSpPr/>
          <p:nvPr/>
        </p:nvSpPr>
        <p:spPr>
          <a:xfrm>
            <a:off x="941315" y="1464273"/>
            <a:ext cx="3474720" cy="384048"/>
          </a:xfrm>
          <a:prstGeom prst="roundRect">
            <a:avLst>
              <a:gd name="adj" fmla="val 19048"/>
            </a:avLst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Objectives pill text">
            <a:extLst>
              <a:ext uri="{FF2B5EF4-FFF2-40B4-BE49-F238E27FC236}">
                <a16:creationId xmlns:a16="http://schemas.microsoft.com/office/drawing/2014/main" id="{31CE9DDC-51A8-167F-1BBE-C49C05A92792}"/>
              </a:ext>
            </a:extLst>
          </p:cNvPr>
          <p:cNvSpPr txBox="1"/>
          <p:nvPr/>
        </p:nvSpPr>
        <p:spPr>
          <a:xfrm>
            <a:off x="1281623" y="1458097"/>
            <a:ext cx="26601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DATA DESCRIPTION</a:t>
            </a:r>
            <a:endParaRPr lang="en-US" dirty="0"/>
          </a:p>
        </p:txBody>
      </p:sp>
      <p:sp>
        <p:nvSpPr>
          <p:cNvPr id="9" name="Data text">
            <a:extLst>
              <a:ext uri="{FF2B5EF4-FFF2-40B4-BE49-F238E27FC236}">
                <a16:creationId xmlns:a16="http://schemas.microsoft.com/office/drawing/2014/main" id="{FC9FC26D-06F5-4AE0-8428-51F310D1D11E}"/>
              </a:ext>
            </a:extLst>
          </p:cNvPr>
          <p:cNvSpPr txBox="1"/>
          <p:nvPr/>
        </p:nvSpPr>
        <p:spPr>
          <a:xfrm>
            <a:off x="904738" y="2028726"/>
            <a:ext cx="8955953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rgbClr val="1E1E2E"/>
                </a:solidFill>
              </a:rPr>
              <a:t>Raw data: 1,026 customer records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rgbClr val="1E1E2E"/>
                </a:solidFill>
              </a:rPr>
              <a:t>13 variables </a:t>
            </a:r>
            <a:r>
              <a:rPr lang="en-US" dirty="0">
                <a:solidFill>
                  <a:srgbClr val="1E1E2E"/>
                </a:solidFill>
              </a:rPr>
              <a:t>which comprises: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rgbClr val="1E1E2E"/>
                </a:solidFill>
              </a:rPr>
              <a:t>Demographic: </a:t>
            </a:r>
            <a:r>
              <a:rPr lang="en-US" dirty="0">
                <a:solidFill>
                  <a:srgbClr val="1E1E2E"/>
                </a:solidFill>
              </a:rPr>
              <a:t>age, gender, marital status, education</a:t>
            </a:r>
            <a:endParaRPr lang="en-US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rgbClr val="1E1E2E"/>
                </a:solidFill>
              </a:rPr>
              <a:t>Financial and household: </a:t>
            </a:r>
            <a:r>
              <a:rPr lang="en-US" dirty="0">
                <a:solidFill>
                  <a:srgbClr val="1E1E2E"/>
                </a:solidFill>
              </a:rPr>
              <a:t>income, cars, home owner, children</a:t>
            </a:r>
            <a:endParaRPr lang="en-US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rgbClr val="1E1E2E"/>
                </a:solidFill>
              </a:rPr>
              <a:t>Lifestyle: </a:t>
            </a:r>
            <a:r>
              <a:rPr lang="en-US" dirty="0">
                <a:solidFill>
                  <a:srgbClr val="1E1E2E"/>
                </a:solidFill>
              </a:rPr>
              <a:t>commute distance, occupation</a:t>
            </a:r>
            <a:endParaRPr lang="en-US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rgbClr val="1E1E2E"/>
                </a:solidFill>
              </a:rPr>
              <a:t>Geographic: </a:t>
            </a:r>
            <a:r>
              <a:rPr lang="en-US" dirty="0">
                <a:solidFill>
                  <a:srgbClr val="1E1E2E"/>
                </a:solidFill>
              </a:rPr>
              <a:t>region (Europe, North America, Pacific)</a:t>
            </a:r>
            <a:endParaRPr lang="en-US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rgbClr val="1E1E2E"/>
                </a:solidFill>
              </a:rPr>
              <a:t>Outcome: </a:t>
            </a:r>
            <a:r>
              <a:rPr lang="en-US" dirty="0">
                <a:solidFill>
                  <a:srgbClr val="1E1E2E"/>
                </a:solidFill>
              </a:rPr>
              <a:t>purchased bike (yes/no)</a:t>
            </a:r>
            <a:endParaRPr lang="en-US" dirty="0"/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7847552C-AC71-6FCC-A313-C340955E14CF}"/>
              </a:ext>
            </a:extLst>
          </p:cNvPr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</a:rPr>
              <a:t>Dataset Overview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07402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AFB79-F578-7204-CB30-BD913670D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ives card">
            <a:extLst>
              <a:ext uri="{FF2B5EF4-FFF2-40B4-BE49-F238E27FC236}">
                <a16:creationId xmlns:a16="http://schemas.microsoft.com/office/drawing/2014/main" id="{AA6C63D7-366C-63F4-7E7E-52536BC0DE10}"/>
              </a:ext>
            </a:extLst>
          </p:cNvPr>
          <p:cNvSpPr/>
          <p:nvPr/>
        </p:nvSpPr>
        <p:spPr>
          <a:xfrm>
            <a:off x="666994" y="1235673"/>
            <a:ext cx="10122925" cy="4663440"/>
          </a:xfrm>
          <a:prstGeom prst="roundRect">
            <a:avLst>
              <a:gd name="adj" fmla="val 2353"/>
            </a:avLst>
          </a:prstGeom>
          <a:solidFill>
            <a:srgbClr val="EEF2F9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Objectives pill">
            <a:extLst>
              <a:ext uri="{FF2B5EF4-FFF2-40B4-BE49-F238E27FC236}">
                <a16:creationId xmlns:a16="http://schemas.microsoft.com/office/drawing/2014/main" id="{95A3CA90-DF08-213B-14F4-C32A98786150}"/>
              </a:ext>
            </a:extLst>
          </p:cNvPr>
          <p:cNvSpPr/>
          <p:nvPr/>
        </p:nvSpPr>
        <p:spPr>
          <a:xfrm>
            <a:off x="941315" y="1464273"/>
            <a:ext cx="4952858" cy="384048"/>
          </a:xfrm>
          <a:prstGeom prst="roundRect">
            <a:avLst>
              <a:gd name="adj" fmla="val 19048"/>
            </a:avLst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Objectives pill text">
            <a:extLst>
              <a:ext uri="{FF2B5EF4-FFF2-40B4-BE49-F238E27FC236}">
                <a16:creationId xmlns:a16="http://schemas.microsoft.com/office/drawing/2014/main" id="{B3C7781A-58C7-1382-B436-C89B4D2B67DC}"/>
              </a:ext>
            </a:extLst>
          </p:cNvPr>
          <p:cNvSpPr txBox="1"/>
          <p:nvPr/>
        </p:nvSpPr>
        <p:spPr>
          <a:xfrm>
            <a:off x="1281623" y="1458097"/>
            <a:ext cx="44271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DATA CLEANING AND STANDARDIZATION</a:t>
            </a:r>
            <a:endParaRPr lang="en-US" dirty="0"/>
          </a:p>
        </p:txBody>
      </p:sp>
      <p:sp>
        <p:nvSpPr>
          <p:cNvPr id="9" name="Data text">
            <a:extLst>
              <a:ext uri="{FF2B5EF4-FFF2-40B4-BE49-F238E27FC236}">
                <a16:creationId xmlns:a16="http://schemas.microsoft.com/office/drawing/2014/main" id="{E6874454-884C-A734-69F9-E862546C906C}"/>
              </a:ext>
            </a:extLst>
          </p:cNvPr>
          <p:cNvSpPr txBox="1"/>
          <p:nvPr/>
        </p:nvSpPr>
        <p:spPr>
          <a:xfrm>
            <a:off x="904738" y="2016369"/>
            <a:ext cx="8955953" cy="3685032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  <a:defRPr b="1">
                <a:solidFill>
                  <a:srgbClr val="1E1E2E"/>
                </a:solidFill>
              </a:defRPr>
            </a:lvl1pPr>
          </a:lstStyle>
          <a:p>
            <a:r>
              <a:rPr lang="en-US" sz="2000" b="0" dirty="0"/>
              <a:t>Checked for </a:t>
            </a:r>
            <a:r>
              <a:rPr lang="en-US" sz="2000" dirty="0"/>
              <a:t>missing/blank values </a:t>
            </a:r>
            <a:r>
              <a:rPr lang="en-US" sz="2000" b="0" dirty="0"/>
              <a:t>— none identified</a:t>
            </a:r>
          </a:p>
          <a:p>
            <a:r>
              <a:rPr lang="en-US" sz="2000" b="0" dirty="0"/>
              <a:t>Checked for duplicate records</a:t>
            </a:r>
          </a:p>
          <a:p>
            <a:r>
              <a:rPr lang="en-US" sz="2000" b="0" dirty="0"/>
              <a:t>Identified </a:t>
            </a:r>
            <a:r>
              <a:rPr lang="en-US" sz="2000" dirty="0"/>
              <a:t>26 duplicate records</a:t>
            </a:r>
          </a:p>
          <a:p>
            <a:r>
              <a:rPr lang="en-US" sz="2000" b="0" dirty="0"/>
              <a:t>Removed duplicates → </a:t>
            </a:r>
            <a:r>
              <a:rPr lang="en-US" sz="2000" dirty="0"/>
              <a:t>1,000 unique customer records</a:t>
            </a:r>
          </a:p>
          <a:p>
            <a:r>
              <a:rPr lang="en-US" sz="2000" dirty="0"/>
              <a:t>Standardization: </a:t>
            </a:r>
            <a:r>
              <a:rPr lang="en-US" sz="2000" b="0" dirty="0"/>
              <a:t>Created Age Group Categories (young adults, middle-aged, older adults, seniors).</a:t>
            </a:r>
          </a:p>
          <a:p>
            <a:endParaRPr lang="en-US" sz="2000" dirty="0"/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5B02985A-397A-55D8-6EBC-56384FA1AA83}"/>
              </a:ext>
            </a:extLst>
          </p:cNvPr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</a:rPr>
              <a:t>Data Preparation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69768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04B4C-B623-94FD-85D4-526BC168A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PI card 1">
            <a:extLst>
              <a:ext uri="{FF2B5EF4-FFF2-40B4-BE49-F238E27FC236}">
                <a16:creationId xmlns:a16="http://schemas.microsoft.com/office/drawing/2014/main" id="{31C7D367-3C2E-1590-D16E-624DC8389C1B}"/>
              </a:ext>
            </a:extLst>
          </p:cNvPr>
          <p:cNvSpPr/>
          <p:nvPr/>
        </p:nvSpPr>
        <p:spPr>
          <a:xfrm>
            <a:off x="548640" y="146304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EEF2F9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KPI Total Customers circle">
            <a:extLst>
              <a:ext uri="{FF2B5EF4-FFF2-40B4-BE49-F238E27FC236}">
                <a16:creationId xmlns:a16="http://schemas.microsoft.com/office/drawing/2014/main" id="{19DC87CB-E1B8-1666-5B5F-93BB826AFBCE}"/>
              </a:ext>
            </a:extLst>
          </p:cNvPr>
          <p:cNvSpPr/>
          <p:nvPr/>
        </p:nvSpPr>
        <p:spPr>
          <a:xfrm>
            <a:off x="1463040" y="1691640"/>
            <a:ext cx="777240" cy="77724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KPI Total Customers icon" descr="KPI Total Customers">
            <a:extLst>
              <a:ext uri="{FF2B5EF4-FFF2-40B4-BE49-F238E27FC236}">
                <a16:creationId xmlns:a16="http://schemas.microsoft.com/office/drawing/2014/main" id="{B67A49A5-5AA2-AE59-DD8C-E1F1EFFD4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50" y="1885950"/>
            <a:ext cx="388620" cy="388620"/>
          </a:xfrm>
          <a:prstGeom prst="rect">
            <a:avLst/>
          </a:prstGeom>
        </p:spPr>
      </p:pic>
      <p:sp>
        <p:nvSpPr>
          <p:cNvPr id="6" name="KPI value 1">
            <a:extLst>
              <a:ext uri="{FF2B5EF4-FFF2-40B4-BE49-F238E27FC236}">
                <a16:creationId xmlns:a16="http://schemas.microsoft.com/office/drawing/2014/main" id="{CACBDCB9-4259-6856-9885-85C11713CAB6}"/>
              </a:ext>
            </a:extLst>
          </p:cNvPr>
          <p:cNvSpPr txBox="1"/>
          <p:nvPr/>
        </p:nvSpPr>
        <p:spPr>
          <a:xfrm>
            <a:off x="548640" y="2606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F5597"/>
                </a:solidFill>
              </a:rPr>
              <a:t>1,000</a:t>
            </a:r>
            <a:endParaRPr lang="en-US" sz="4400" dirty="0"/>
          </a:p>
        </p:txBody>
      </p:sp>
      <p:sp>
        <p:nvSpPr>
          <p:cNvPr id="7" name="KPI label 1">
            <a:extLst>
              <a:ext uri="{FF2B5EF4-FFF2-40B4-BE49-F238E27FC236}">
                <a16:creationId xmlns:a16="http://schemas.microsoft.com/office/drawing/2014/main" id="{FAF5BD91-7DCF-8D45-1AEC-DB68EEE989BD}"/>
              </a:ext>
            </a:extLst>
          </p:cNvPr>
          <p:cNvSpPr txBox="1"/>
          <p:nvPr/>
        </p:nvSpPr>
        <p:spPr>
          <a:xfrm>
            <a:off x="548640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1E2E"/>
                </a:solidFill>
              </a:rPr>
              <a:t>Total Customers</a:t>
            </a:r>
            <a:endParaRPr lang="en-US" sz="1600" dirty="0"/>
          </a:p>
        </p:txBody>
      </p:sp>
      <p:sp>
        <p:nvSpPr>
          <p:cNvPr id="8" name="KPI card 2">
            <a:extLst>
              <a:ext uri="{FF2B5EF4-FFF2-40B4-BE49-F238E27FC236}">
                <a16:creationId xmlns:a16="http://schemas.microsoft.com/office/drawing/2014/main" id="{E2417F9C-1FA2-270C-D05D-A1A30AC6F879}"/>
              </a:ext>
            </a:extLst>
          </p:cNvPr>
          <p:cNvSpPr/>
          <p:nvPr/>
        </p:nvSpPr>
        <p:spPr>
          <a:xfrm>
            <a:off x="3383280" y="146304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EEF2F9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KPI Bike Buyers circle">
            <a:extLst>
              <a:ext uri="{FF2B5EF4-FFF2-40B4-BE49-F238E27FC236}">
                <a16:creationId xmlns:a16="http://schemas.microsoft.com/office/drawing/2014/main" id="{90D401FF-890F-28DD-998B-0A7AA639526B}"/>
              </a:ext>
            </a:extLst>
          </p:cNvPr>
          <p:cNvSpPr/>
          <p:nvPr/>
        </p:nvSpPr>
        <p:spPr>
          <a:xfrm>
            <a:off x="4297680" y="1691640"/>
            <a:ext cx="777240" cy="77724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KPI Bike Buyers icon" descr="KPI Bike Buyers">
            <a:extLst>
              <a:ext uri="{FF2B5EF4-FFF2-40B4-BE49-F238E27FC236}">
                <a16:creationId xmlns:a16="http://schemas.microsoft.com/office/drawing/2014/main" id="{FFB02D34-8301-98DA-22B2-E940FF6C5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990" y="1885950"/>
            <a:ext cx="388620" cy="388620"/>
          </a:xfrm>
          <a:prstGeom prst="rect">
            <a:avLst/>
          </a:prstGeom>
        </p:spPr>
      </p:pic>
      <p:sp>
        <p:nvSpPr>
          <p:cNvPr id="11" name="KPI value 2">
            <a:extLst>
              <a:ext uri="{FF2B5EF4-FFF2-40B4-BE49-F238E27FC236}">
                <a16:creationId xmlns:a16="http://schemas.microsoft.com/office/drawing/2014/main" id="{D99371F2-D277-60AD-1286-3D8C7805CC95}"/>
              </a:ext>
            </a:extLst>
          </p:cNvPr>
          <p:cNvSpPr txBox="1"/>
          <p:nvPr/>
        </p:nvSpPr>
        <p:spPr>
          <a:xfrm>
            <a:off x="3383280" y="2606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F5597"/>
                </a:solidFill>
              </a:rPr>
              <a:t>481</a:t>
            </a:r>
            <a:endParaRPr lang="en-US" sz="4400" dirty="0"/>
          </a:p>
        </p:txBody>
      </p:sp>
      <p:sp>
        <p:nvSpPr>
          <p:cNvPr id="12" name="KPI label 2">
            <a:extLst>
              <a:ext uri="{FF2B5EF4-FFF2-40B4-BE49-F238E27FC236}">
                <a16:creationId xmlns:a16="http://schemas.microsoft.com/office/drawing/2014/main" id="{0AAF0DAB-1F2F-3B72-9954-E202F5CB6AF3}"/>
              </a:ext>
            </a:extLst>
          </p:cNvPr>
          <p:cNvSpPr txBox="1"/>
          <p:nvPr/>
        </p:nvSpPr>
        <p:spPr>
          <a:xfrm>
            <a:off x="3383280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1E2E"/>
                </a:solidFill>
              </a:rPr>
              <a:t>Bike Buyers</a:t>
            </a:r>
            <a:endParaRPr lang="en-US" sz="1600" dirty="0"/>
          </a:p>
        </p:txBody>
      </p:sp>
      <p:sp>
        <p:nvSpPr>
          <p:cNvPr id="13" name="KPI card 3">
            <a:extLst>
              <a:ext uri="{FF2B5EF4-FFF2-40B4-BE49-F238E27FC236}">
                <a16:creationId xmlns:a16="http://schemas.microsoft.com/office/drawing/2014/main" id="{C489E4BF-6325-5307-4950-D32027DEC9E8}"/>
              </a:ext>
            </a:extLst>
          </p:cNvPr>
          <p:cNvSpPr/>
          <p:nvPr/>
        </p:nvSpPr>
        <p:spPr>
          <a:xfrm>
            <a:off x="6217920" y="146304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EEF2F9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KPI Non-Buyers circle">
            <a:extLst>
              <a:ext uri="{FF2B5EF4-FFF2-40B4-BE49-F238E27FC236}">
                <a16:creationId xmlns:a16="http://schemas.microsoft.com/office/drawing/2014/main" id="{693E85A6-B5A6-AE9C-6C6C-88FB917374AD}"/>
              </a:ext>
            </a:extLst>
          </p:cNvPr>
          <p:cNvSpPr/>
          <p:nvPr/>
        </p:nvSpPr>
        <p:spPr>
          <a:xfrm>
            <a:off x="7132320" y="1691640"/>
            <a:ext cx="777240" cy="77724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KPI Non-Buyers icon" descr="KPI Non-Buyers">
            <a:extLst>
              <a:ext uri="{FF2B5EF4-FFF2-40B4-BE49-F238E27FC236}">
                <a16:creationId xmlns:a16="http://schemas.microsoft.com/office/drawing/2014/main" id="{E4A22D3D-7BDA-EBDA-199E-CBC4340643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630" y="1885950"/>
            <a:ext cx="388620" cy="388620"/>
          </a:xfrm>
          <a:prstGeom prst="rect">
            <a:avLst/>
          </a:prstGeom>
        </p:spPr>
      </p:pic>
      <p:sp>
        <p:nvSpPr>
          <p:cNvPr id="16" name="KPI value 3">
            <a:extLst>
              <a:ext uri="{FF2B5EF4-FFF2-40B4-BE49-F238E27FC236}">
                <a16:creationId xmlns:a16="http://schemas.microsoft.com/office/drawing/2014/main" id="{6A99005D-E4E0-C476-AE70-B510D7092B75}"/>
              </a:ext>
            </a:extLst>
          </p:cNvPr>
          <p:cNvSpPr txBox="1"/>
          <p:nvPr/>
        </p:nvSpPr>
        <p:spPr>
          <a:xfrm>
            <a:off x="6217920" y="2606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F5597"/>
                </a:solidFill>
              </a:rPr>
              <a:t>519</a:t>
            </a:r>
            <a:endParaRPr lang="en-US" sz="4400" dirty="0"/>
          </a:p>
        </p:txBody>
      </p:sp>
      <p:sp>
        <p:nvSpPr>
          <p:cNvPr id="17" name="KPI label 3">
            <a:extLst>
              <a:ext uri="{FF2B5EF4-FFF2-40B4-BE49-F238E27FC236}">
                <a16:creationId xmlns:a16="http://schemas.microsoft.com/office/drawing/2014/main" id="{03090D22-80F7-64DC-B15A-85CFAE65486E}"/>
              </a:ext>
            </a:extLst>
          </p:cNvPr>
          <p:cNvSpPr txBox="1"/>
          <p:nvPr/>
        </p:nvSpPr>
        <p:spPr>
          <a:xfrm>
            <a:off x="6217920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1E2E"/>
                </a:solidFill>
              </a:rPr>
              <a:t>Non-Buyers</a:t>
            </a:r>
            <a:endParaRPr lang="en-US" sz="1600" dirty="0"/>
          </a:p>
        </p:txBody>
      </p:sp>
      <p:sp>
        <p:nvSpPr>
          <p:cNvPr id="18" name="KPI card 4">
            <a:extLst>
              <a:ext uri="{FF2B5EF4-FFF2-40B4-BE49-F238E27FC236}">
                <a16:creationId xmlns:a16="http://schemas.microsoft.com/office/drawing/2014/main" id="{56D00E87-D4FD-922F-E092-9EA63EA9415D}"/>
              </a:ext>
            </a:extLst>
          </p:cNvPr>
          <p:cNvSpPr/>
          <p:nvPr/>
        </p:nvSpPr>
        <p:spPr>
          <a:xfrm>
            <a:off x="9052560" y="146304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EEF2F9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KPI Purchase Rate circle">
            <a:extLst>
              <a:ext uri="{FF2B5EF4-FFF2-40B4-BE49-F238E27FC236}">
                <a16:creationId xmlns:a16="http://schemas.microsoft.com/office/drawing/2014/main" id="{F877B600-0554-5D45-2E2F-D65013F8C26F}"/>
              </a:ext>
            </a:extLst>
          </p:cNvPr>
          <p:cNvSpPr/>
          <p:nvPr/>
        </p:nvSpPr>
        <p:spPr>
          <a:xfrm>
            <a:off x="9966960" y="1691640"/>
            <a:ext cx="777240" cy="77724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KPI Purchase Rate icon" descr="KPI Purchase Rate">
            <a:extLst>
              <a:ext uri="{FF2B5EF4-FFF2-40B4-BE49-F238E27FC236}">
                <a16:creationId xmlns:a16="http://schemas.microsoft.com/office/drawing/2014/main" id="{56EE5F74-FF42-2A2E-625E-8801292F61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1270" y="1885950"/>
            <a:ext cx="388620" cy="388620"/>
          </a:xfrm>
          <a:prstGeom prst="rect">
            <a:avLst/>
          </a:prstGeom>
        </p:spPr>
      </p:pic>
      <p:sp>
        <p:nvSpPr>
          <p:cNvPr id="21" name="KPI value 4">
            <a:extLst>
              <a:ext uri="{FF2B5EF4-FFF2-40B4-BE49-F238E27FC236}">
                <a16:creationId xmlns:a16="http://schemas.microsoft.com/office/drawing/2014/main" id="{51E57691-C9FF-DBC7-ED6A-1C520EB53B59}"/>
              </a:ext>
            </a:extLst>
          </p:cNvPr>
          <p:cNvSpPr txBox="1"/>
          <p:nvPr/>
        </p:nvSpPr>
        <p:spPr>
          <a:xfrm>
            <a:off x="9052560" y="2606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F5597"/>
                </a:solidFill>
              </a:rPr>
              <a:t>48.1%</a:t>
            </a:r>
            <a:endParaRPr lang="en-US" sz="4400" dirty="0"/>
          </a:p>
        </p:txBody>
      </p:sp>
      <p:sp>
        <p:nvSpPr>
          <p:cNvPr id="22" name="KPI label 4">
            <a:extLst>
              <a:ext uri="{FF2B5EF4-FFF2-40B4-BE49-F238E27FC236}">
                <a16:creationId xmlns:a16="http://schemas.microsoft.com/office/drawing/2014/main" id="{D237FE72-6884-58CB-2264-CC558516A37B}"/>
              </a:ext>
            </a:extLst>
          </p:cNvPr>
          <p:cNvSpPr txBox="1"/>
          <p:nvPr/>
        </p:nvSpPr>
        <p:spPr>
          <a:xfrm>
            <a:off x="9052560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1E2E"/>
                </a:solidFill>
              </a:rPr>
              <a:t>Purchase Rate</a:t>
            </a:r>
            <a:endParaRPr lang="en-US" sz="1600" dirty="0"/>
          </a:p>
        </p:txBody>
      </p:sp>
      <p:sp>
        <p:nvSpPr>
          <p:cNvPr id="23" name="Baseline note">
            <a:extLst>
              <a:ext uri="{FF2B5EF4-FFF2-40B4-BE49-F238E27FC236}">
                <a16:creationId xmlns:a16="http://schemas.microsoft.com/office/drawing/2014/main" id="{40D0F816-5FB0-455B-8F06-C8789D7D06C5}"/>
              </a:ext>
            </a:extLst>
          </p:cNvPr>
          <p:cNvSpPr/>
          <p:nvPr/>
        </p:nvSpPr>
        <p:spPr>
          <a:xfrm>
            <a:off x="548640" y="4480560"/>
            <a:ext cx="1109167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Baseline pill">
            <a:extLst>
              <a:ext uri="{FF2B5EF4-FFF2-40B4-BE49-F238E27FC236}">
                <a16:creationId xmlns:a16="http://schemas.microsoft.com/office/drawing/2014/main" id="{70D44FA7-0A1C-5115-D4A9-8579829C6A8A}"/>
              </a:ext>
            </a:extLst>
          </p:cNvPr>
          <p:cNvSpPr/>
          <p:nvPr/>
        </p:nvSpPr>
        <p:spPr>
          <a:xfrm>
            <a:off x="822960" y="470916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Baseline pill text">
            <a:extLst>
              <a:ext uri="{FF2B5EF4-FFF2-40B4-BE49-F238E27FC236}">
                <a16:creationId xmlns:a16="http://schemas.microsoft.com/office/drawing/2014/main" id="{89F5901C-004E-EE05-1D37-EB3A346B09F2}"/>
              </a:ext>
            </a:extLst>
          </p:cNvPr>
          <p:cNvSpPr txBox="1"/>
          <p:nvPr/>
        </p:nvSpPr>
        <p:spPr>
          <a:xfrm>
            <a:off x="822960" y="4709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BASELINE</a:t>
            </a:r>
            <a:endParaRPr lang="en-US" sz="1400" dirty="0"/>
          </a:p>
        </p:txBody>
      </p:sp>
      <p:sp>
        <p:nvSpPr>
          <p:cNvPr id="26" name="Baseline text">
            <a:extLst>
              <a:ext uri="{FF2B5EF4-FFF2-40B4-BE49-F238E27FC236}">
                <a16:creationId xmlns:a16="http://schemas.microsoft.com/office/drawing/2014/main" id="{3F46DCEB-8736-2A5C-1E06-E2B51987CFFF}"/>
              </a:ext>
            </a:extLst>
          </p:cNvPr>
          <p:cNvSpPr txBox="1"/>
          <p:nvPr/>
        </p:nvSpPr>
        <p:spPr>
          <a:xfrm>
            <a:off x="822960" y="5166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1E2E"/>
                </a:solidFill>
              </a:rPr>
              <a:t>Purchase rate is bike buyers divided by total customers within a group. The 48.1% overall rate is the baseline: groups above it buy more than the average customer, groups below it buy less.</a:t>
            </a:r>
            <a:endParaRPr lang="en-US" sz="2000" dirty="0"/>
          </a:p>
        </p:txBody>
      </p:sp>
      <p:sp>
        <p:nvSpPr>
          <p:cNvPr id="27" name="Slide Number Placeholder 0">
            <a:extLst>
              <a:ext uri="{FF2B5EF4-FFF2-40B4-BE49-F238E27FC236}">
                <a16:creationId xmlns:a16="http://schemas.microsoft.com/office/drawing/2014/main" id="{3CD52B2D-AF62-AE63-9212-3AF3DA1C6CA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29" name="Slide title">
            <a:extLst>
              <a:ext uri="{FF2B5EF4-FFF2-40B4-BE49-F238E27FC236}">
                <a16:creationId xmlns:a16="http://schemas.microsoft.com/office/drawing/2014/main" id="{EFDEC5F6-59DE-D0F2-0B1B-04B20B2282EC}"/>
              </a:ext>
            </a:extLst>
          </p:cNvPr>
          <p:cNvSpPr txBox="1"/>
          <p:nvPr/>
        </p:nvSpPr>
        <p:spPr>
          <a:xfrm>
            <a:off x="701040" y="460083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</a:rPr>
              <a:t>Approach and Segmentation Framework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95153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</a:rPr>
              <a:t>Segmentation Framework</a:t>
            </a:r>
            <a:endParaRPr lang="en-US" sz="3200" dirty="0"/>
          </a:p>
        </p:txBody>
      </p:sp>
      <p:sp>
        <p:nvSpPr>
          <p:cNvPr id="3" name="Approach card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Approach text"/>
          <p:cNvSpPr txBox="1"/>
          <p:nvPr/>
        </p:nvSpPr>
        <p:spPr>
          <a:xfrm>
            <a:off x="822960" y="14630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1E2E"/>
                </a:solidFill>
              </a:rPr>
              <a:t>Each characteristic is compared with the 48.1% baseline, and the strongest individual characteristics are grouped into two tiers. </a:t>
            </a:r>
            <a:endParaRPr lang="en-US" sz="2000" dirty="0"/>
          </a:p>
        </p:txBody>
      </p:sp>
      <p:sp>
        <p:nvSpPr>
          <p:cNvPr id="5" name="Tier 1 card"/>
          <p:cNvSpPr/>
          <p:nvPr/>
        </p:nvSpPr>
        <p:spPr>
          <a:xfrm>
            <a:off x="548640" y="2834640"/>
            <a:ext cx="5449824" cy="3200400"/>
          </a:xfrm>
          <a:prstGeom prst="roundRect">
            <a:avLst>
              <a:gd name="adj" fmla="val 3429"/>
            </a:avLst>
          </a:prstGeom>
          <a:solidFill>
            <a:srgbClr val="EEF2F9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ier 1 pill"/>
          <p:cNvSpPr/>
          <p:nvPr/>
        </p:nvSpPr>
        <p:spPr>
          <a:xfrm>
            <a:off x="822960" y="306324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ier 1 pill text"/>
          <p:cNvSpPr txBox="1"/>
          <p:nvPr/>
        </p:nvSpPr>
        <p:spPr>
          <a:xfrm>
            <a:off x="822960" y="30632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TIER 1: STRONGEST SIGNALS</a:t>
            </a:r>
            <a:endParaRPr lang="en-US" dirty="0"/>
          </a:p>
        </p:txBody>
      </p:sp>
      <p:sp>
        <p:nvSpPr>
          <p:cNvPr id="8" name="Tier 1 list"/>
          <p:cNvSpPr txBox="1"/>
          <p:nvPr/>
        </p:nvSpPr>
        <p:spPr>
          <a:xfrm>
            <a:off x="822960" y="365760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E1E2E"/>
                </a:solidFill>
              </a:rPr>
              <a:t>Cars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E1E2E"/>
                </a:solidFill>
              </a:rPr>
              <a:t>Region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E1E2E"/>
                </a:solidFill>
              </a:rPr>
              <a:t>Commute distance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E1E2E"/>
                </a:solidFill>
              </a:rPr>
              <a:t>Children</a:t>
            </a:r>
            <a:endParaRPr lang="en-US" sz="2000" dirty="0"/>
          </a:p>
        </p:txBody>
      </p:sp>
      <p:sp>
        <p:nvSpPr>
          <p:cNvPr id="9" name="Tier 2 card"/>
          <p:cNvSpPr/>
          <p:nvPr/>
        </p:nvSpPr>
        <p:spPr>
          <a:xfrm>
            <a:off x="6190488" y="2834640"/>
            <a:ext cx="5449824" cy="3200400"/>
          </a:xfrm>
          <a:prstGeom prst="roundRect">
            <a:avLst>
              <a:gd name="adj" fmla="val 3429"/>
            </a:avLst>
          </a:prstGeom>
          <a:solidFill>
            <a:srgbClr val="EEF2F9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ier 2 pill"/>
          <p:cNvSpPr/>
          <p:nvPr/>
        </p:nvSpPr>
        <p:spPr>
          <a:xfrm>
            <a:off x="6464808" y="306324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ier 2 pill text"/>
          <p:cNvSpPr txBox="1"/>
          <p:nvPr/>
        </p:nvSpPr>
        <p:spPr>
          <a:xfrm>
            <a:off x="6464808" y="3063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TIER 2: SUPPORTING INSIGHTS</a:t>
            </a:r>
            <a:endParaRPr lang="en-US" dirty="0"/>
          </a:p>
        </p:txBody>
      </p:sp>
      <p:sp>
        <p:nvSpPr>
          <p:cNvPr id="12" name="Tier 2 list"/>
          <p:cNvSpPr txBox="1"/>
          <p:nvPr/>
        </p:nvSpPr>
        <p:spPr>
          <a:xfrm>
            <a:off x="6464808" y="365760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E1E2E"/>
                </a:solidFill>
              </a:rPr>
              <a:t>Education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E1E2E"/>
                </a:solidFill>
              </a:rPr>
              <a:t>Age group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E1E2E"/>
                </a:solidFill>
              </a:rPr>
              <a:t>Occupation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E1E2E"/>
                </a:solidFill>
              </a:rPr>
              <a:t>Marital status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</a:rPr>
              <a:t>Tier 1 Findings: Strongest Individual Signals</a:t>
            </a:r>
            <a:endParaRPr lang="en-US" sz="3200" dirty="0"/>
          </a:p>
        </p:txBody>
      </p:sp>
      <p:sp>
        <p:nvSpPr>
          <p:cNvPr id="3" name="Tier 1 card 1"/>
          <p:cNvSpPr/>
          <p:nvPr/>
        </p:nvSpPr>
        <p:spPr>
          <a:xfrm>
            <a:off x="548640" y="146304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EEF2F9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ier1 name 1"/>
          <p:cNvSpPr txBox="1"/>
          <p:nvPr/>
        </p:nvSpPr>
        <p:spPr>
          <a:xfrm>
            <a:off x="731520" y="1600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Cars</a:t>
            </a:r>
            <a:endParaRPr lang="en-US" sz="1600" dirty="0"/>
          </a:p>
        </p:txBody>
      </p:sp>
      <p:sp>
        <p:nvSpPr>
          <p:cNvPr id="5" name="Tier1 segment 1"/>
          <p:cNvSpPr txBox="1"/>
          <p:nvPr/>
        </p:nvSpPr>
        <p:spPr>
          <a:xfrm>
            <a:off x="73152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E2E"/>
                </a:solidFill>
              </a:rPr>
              <a:t>0 cars</a:t>
            </a:r>
            <a:endParaRPr lang="en-US" sz="1800" dirty="0"/>
          </a:p>
        </p:txBody>
      </p:sp>
      <p:sp>
        <p:nvSpPr>
          <p:cNvPr id="6" name="Tier1 rate 1"/>
          <p:cNvSpPr txBox="1"/>
          <p:nvPr/>
        </p:nvSpPr>
        <p:spPr>
          <a:xfrm>
            <a:off x="731520" y="25603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F5597"/>
                </a:solidFill>
              </a:rPr>
              <a:t>61.1%</a:t>
            </a:r>
            <a:endParaRPr lang="en-US" sz="4800" dirty="0"/>
          </a:p>
        </p:txBody>
      </p:sp>
      <p:sp>
        <p:nvSpPr>
          <p:cNvPr id="7" name="Tier1 rate label 1"/>
          <p:cNvSpPr txBox="1"/>
          <p:nvPr/>
        </p:nvSpPr>
        <p:spPr>
          <a:xfrm>
            <a:off x="731520" y="3474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7F7F"/>
                </a:solidFill>
              </a:rPr>
              <a:t>purchase rate</a:t>
            </a:r>
            <a:endParaRPr lang="en-US" sz="1400" dirty="0"/>
          </a:p>
        </p:txBody>
      </p:sp>
      <p:sp>
        <p:nvSpPr>
          <p:cNvPr id="8" name="Tier1 delta 1"/>
          <p:cNvSpPr txBox="1"/>
          <p:nvPr/>
        </p:nvSpPr>
        <p:spPr>
          <a:xfrm>
            <a:off x="731520" y="4114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7D31"/>
                </a:solidFill>
              </a:rPr>
              <a:t>+13.0 pp vs baseline</a:t>
            </a:r>
            <a:endParaRPr lang="en-US" sz="1600" dirty="0"/>
          </a:p>
        </p:txBody>
      </p:sp>
      <p:sp>
        <p:nvSpPr>
          <p:cNvPr id="9" name="Tier1 size 1"/>
          <p:cNvSpPr txBox="1"/>
          <p:nvPr/>
        </p:nvSpPr>
        <p:spPr>
          <a:xfrm>
            <a:off x="731520" y="4526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2E"/>
                </a:solidFill>
              </a:rPr>
              <a:t>247 customers</a:t>
            </a:r>
            <a:endParaRPr lang="en-US" sz="1400" dirty="0"/>
          </a:p>
        </p:txBody>
      </p:sp>
      <p:sp>
        <p:nvSpPr>
          <p:cNvPr id="10" name="Tier 1 card 2"/>
          <p:cNvSpPr/>
          <p:nvPr/>
        </p:nvSpPr>
        <p:spPr>
          <a:xfrm>
            <a:off x="3383280" y="146304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EEF2F9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ier1 name 2"/>
          <p:cNvSpPr txBox="1"/>
          <p:nvPr/>
        </p:nvSpPr>
        <p:spPr>
          <a:xfrm>
            <a:off x="3566160" y="1600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Region</a:t>
            </a:r>
            <a:endParaRPr lang="en-US" sz="1600" dirty="0"/>
          </a:p>
        </p:txBody>
      </p:sp>
      <p:sp>
        <p:nvSpPr>
          <p:cNvPr id="12" name="Tier1 segment 2"/>
          <p:cNvSpPr txBox="1"/>
          <p:nvPr/>
        </p:nvSpPr>
        <p:spPr>
          <a:xfrm>
            <a:off x="356616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E2E"/>
                </a:solidFill>
              </a:rPr>
              <a:t>Pacific</a:t>
            </a:r>
            <a:endParaRPr lang="en-US" sz="1800" dirty="0"/>
          </a:p>
        </p:txBody>
      </p:sp>
      <p:sp>
        <p:nvSpPr>
          <p:cNvPr id="13" name="Tier1 rate 2"/>
          <p:cNvSpPr txBox="1"/>
          <p:nvPr/>
        </p:nvSpPr>
        <p:spPr>
          <a:xfrm>
            <a:off x="3566160" y="25603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F5597"/>
                </a:solidFill>
              </a:rPr>
              <a:t>58.9%</a:t>
            </a:r>
            <a:endParaRPr lang="en-US" sz="4800" dirty="0"/>
          </a:p>
        </p:txBody>
      </p:sp>
      <p:sp>
        <p:nvSpPr>
          <p:cNvPr id="14" name="Tier1 rate label 2"/>
          <p:cNvSpPr txBox="1"/>
          <p:nvPr/>
        </p:nvSpPr>
        <p:spPr>
          <a:xfrm>
            <a:off x="3566160" y="3474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7F7F"/>
                </a:solidFill>
              </a:rPr>
              <a:t>purchase rate</a:t>
            </a:r>
            <a:endParaRPr lang="en-US" sz="1400" dirty="0"/>
          </a:p>
        </p:txBody>
      </p:sp>
      <p:sp>
        <p:nvSpPr>
          <p:cNvPr id="15" name="Tier1 delta 2"/>
          <p:cNvSpPr txBox="1"/>
          <p:nvPr/>
        </p:nvSpPr>
        <p:spPr>
          <a:xfrm>
            <a:off x="3566160" y="4114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7D31"/>
                </a:solidFill>
              </a:rPr>
              <a:t>+10.8 pp vs baseline</a:t>
            </a:r>
            <a:endParaRPr lang="en-US" sz="1600" dirty="0"/>
          </a:p>
        </p:txBody>
      </p:sp>
      <p:sp>
        <p:nvSpPr>
          <p:cNvPr id="16" name="Tier1 size 2"/>
          <p:cNvSpPr txBox="1"/>
          <p:nvPr/>
        </p:nvSpPr>
        <p:spPr>
          <a:xfrm>
            <a:off x="3566160" y="4526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2E"/>
                </a:solidFill>
              </a:rPr>
              <a:t>192 customers</a:t>
            </a:r>
            <a:endParaRPr lang="en-US" sz="1400" dirty="0"/>
          </a:p>
        </p:txBody>
      </p:sp>
      <p:sp>
        <p:nvSpPr>
          <p:cNvPr id="17" name="Tier 1 card 3"/>
          <p:cNvSpPr/>
          <p:nvPr/>
        </p:nvSpPr>
        <p:spPr>
          <a:xfrm>
            <a:off x="6217920" y="146304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EEF2F9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ier1 name 3"/>
          <p:cNvSpPr txBox="1"/>
          <p:nvPr/>
        </p:nvSpPr>
        <p:spPr>
          <a:xfrm>
            <a:off x="6400800" y="1600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Commute distance</a:t>
            </a:r>
            <a:endParaRPr lang="en-US" sz="1600" dirty="0"/>
          </a:p>
        </p:txBody>
      </p:sp>
      <p:sp>
        <p:nvSpPr>
          <p:cNvPr id="19" name="Tier1 segment 3"/>
          <p:cNvSpPr txBox="1"/>
          <p:nvPr/>
        </p:nvSpPr>
        <p:spPr>
          <a:xfrm>
            <a:off x="640080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E2E"/>
                </a:solidFill>
              </a:rPr>
              <a:t>2–5 miles</a:t>
            </a:r>
            <a:endParaRPr lang="en-US" sz="1800" dirty="0"/>
          </a:p>
        </p:txBody>
      </p:sp>
      <p:sp>
        <p:nvSpPr>
          <p:cNvPr id="20" name="Tier1 rate 3"/>
          <p:cNvSpPr txBox="1"/>
          <p:nvPr/>
        </p:nvSpPr>
        <p:spPr>
          <a:xfrm>
            <a:off x="6400800" y="25603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F5597"/>
                </a:solidFill>
              </a:rPr>
              <a:t>58.6%</a:t>
            </a:r>
            <a:endParaRPr lang="en-US" sz="4800" dirty="0"/>
          </a:p>
        </p:txBody>
      </p:sp>
      <p:sp>
        <p:nvSpPr>
          <p:cNvPr id="21" name="Tier1 rate label 3"/>
          <p:cNvSpPr txBox="1"/>
          <p:nvPr/>
        </p:nvSpPr>
        <p:spPr>
          <a:xfrm>
            <a:off x="6400800" y="3474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7F7F"/>
                </a:solidFill>
              </a:rPr>
              <a:t>purchase rate</a:t>
            </a:r>
            <a:endParaRPr lang="en-US" sz="1400" dirty="0"/>
          </a:p>
        </p:txBody>
      </p:sp>
      <p:sp>
        <p:nvSpPr>
          <p:cNvPr id="22" name="Tier1 delta 3"/>
          <p:cNvSpPr txBox="1"/>
          <p:nvPr/>
        </p:nvSpPr>
        <p:spPr>
          <a:xfrm>
            <a:off x="6400800" y="4114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7D31"/>
                </a:solidFill>
              </a:rPr>
              <a:t>+10.5 pp vs baseline</a:t>
            </a:r>
            <a:endParaRPr lang="en-US" sz="1600" dirty="0"/>
          </a:p>
        </p:txBody>
      </p:sp>
      <p:sp>
        <p:nvSpPr>
          <p:cNvPr id="23" name="Tier1 size 3"/>
          <p:cNvSpPr txBox="1"/>
          <p:nvPr/>
        </p:nvSpPr>
        <p:spPr>
          <a:xfrm>
            <a:off x="6400800" y="4526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2E"/>
                </a:solidFill>
              </a:rPr>
              <a:t>162 customers</a:t>
            </a:r>
            <a:endParaRPr lang="en-US" sz="1400" dirty="0"/>
          </a:p>
        </p:txBody>
      </p:sp>
      <p:sp>
        <p:nvSpPr>
          <p:cNvPr id="24" name="Tier 1 card 4"/>
          <p:cNvSpPr/>
          <p:nvPr/>
        </p:nvSpPr>
        <p:spPr>
          <a:xfrm>
            <a:off x="9052560" y="146304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EEF2F9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ier1 name 4"/>
          <p:cNvSpPr txBox="1"/>
          <p:nvPr/>
        </p:nvSpPr>
        <p:spPr>
          <a:xfrm>
            <a:off x="9235440" y="1600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Children</a:t>
            </a:r>
            <a:endParaRPr lang="en-US" sz="1600" dirty="0"/>
          </a:p>
        </p:txBody>
      </p:sp>
      <p:sp>
        <p:nvSpPr>
          <p:cNvPr id="26" name="Tier1 segment 4"/>
          <p:cNvSpPr txBox="1"/>
          <p:nvPr/>
        </p:nvSpPr>
        <p:spPr>
          <a:xfrm>
            <a:off x="923544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1E2E"/>
                </a:solidFill>
              </a:rPr>
              <a:t>1 child</a:t>
            </a:r>
            <a:endParaRPr lang="en-US" sz="1800" dirty="0"/>
          </a:p>
        </p:txBody>
      </p:sp>
      <p:sp>
        <p:nvSpPr>
          <p:cNvPr id="27" name="Tier1 rate 4"/>
          <p:cNvSpPr txBox="1"/>
          <p:nvPr/>
        </p:nvSpPr>
        <p:spPr>
          <a:xfrm>
            <a:off x="9235440" y="25603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F5597"/>
                </a:solidFill>
              </a:rPr>
              <a:t>57.4%</a:t>
            </a:r>
            <a:endParaRPr lang="en-US" sz="4800" dirty="0"/>
          </a:p>
        </p:txBody>
      </p:sp>
      <p:sp>
        <p:nvSpPr>
          <p:cNvPr id="28" name="Tier1 rate label 4"/>
          <p:cNvSpPr txBox="1"/>
          <p:nvPr/>
        </p:nvSpPr>
        <p:spPr>
          <a:xfrm>
            <a:off x="9235440" y="3474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7F7F"/>
                </a:solidFill>
              </a:rPr>
              <a:t>purchase rate</a:t>
            </a:r>
            <a:endParaRPr lang="en-US" sz="1400" dirty="0"/>
          </a:p>
        </p:txBody>
      </p:sp>
      <p:sp>
        <p:nvSpPr>
          <p:cNvPr id="29" name="Tier1 delta 4"/>
          <p:cNvSpPr txBox="1"/>
          <p:nvPr/>
        </p:nvSpPr>
        <p:spPr>
          <a:xfrm>
            <a:off x="9235440" y="4114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7D31"/>
                </a:solidFill>
              </a:rPr>
              <a:t>+9.3 pp vs baseline</a:t>
            </a:r>
            <a:endParaRPr lang="en-US" sz="1600" dirty="0"/>
          </a:p>
        </p:txBody>
      </p:sp>
      <p:sp>
        <p:nvSpPr>
          <p:cNvPr id="30" name="Tier1 size 4"/>
          <p:cNvSpPr txBox="1"/>
          <p:nvPr/>
        </p:nvSpPr>
        <p:spPr>
          <a:xfrm>
            <a:off x="9235440" y="4526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2E"/>
                </a:solidFill>
              </a:rPr>
              <a:t>169 customers</a:t>
            </a:r>
            <a:endParaRPr lang="en-US" sz="1400" dirty="0"/>
          </a:p>
        </p:txBody>
      </p:sp>
      <p:sp>
        <p:nvSpPr>
          <p:cNvPr id="31" name="Tier1 caveat"/>
          <p:cNvSpPr txBox="1"/>
          <p:nvPr/>
        </p:nvSpPr>
        <p:spPr>
          <a:xfrm>
            <a:off x="548640" y="55778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7F7F"/>
                </a:solidFill>
              </a:rPr>
              <a:t>These are individual associations, not evidence that the four characteristics jointly form one combined customer segment.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</a:rPr>
              <a:t>Pacific Customers Buy Most Often</a:t>
            </a:r>
            <a:endParaRPr lang="en-US" sz="3200" dirty="0"/>
          </a:p>
        </p:txBody>
      </p:sp>
      <p:sp>
        <p:nvSpPr>
          <p:cNvPr id="3" name="Chart card"/>
          <p:cNvSpPr/>
          <p:nvPr/>
        </p:nvSpPr>
        <p:spPr>
          <a:xfrm>
            <a:off x="548640" y="1371600"/>
            <a:ext cx="722376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508760"/>
          <a:ext cx="68580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Insight card"/>
          <p:cNvSpPr/>
          <p:nvPr/>
        </p:nvSpPr>
        <p:spPr>
          <a:xfrm>
            <a:off x="8046720" y="1371600"/>
            <a:ext cx="3593592" cy="4663440"/>
          </a:xfrm>
          <a:prstGeom prst="roundRect">
            <a:avLst>
              <a:gd name="adj" fmla="val 3053"/>
            </a:avLst>
          </a:prstGeom>
          <a:solidFill>
            <a:srgbClr val="EEF2F9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Insight pill"/>
          <p:cNvSpPr/>
          <p:nvPr/>
        </p:nvSpPr>
        <p:spPr>
          <a:xfrm>
            <a:off x="8275320" y="1600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Insight pill text"/>
          <p:cNvSpPr txBox="1"/>
          <p:nvPr/>
        </p:nvSpPr>
        <p:spPr>
          <a:xfrm>
            <a:off x="8275320" y="1600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KEY INSIGHT</a:t>
            </a:r>
            <a:endParaRPr lang="en-US" sz="1600" dirty="0"/>
          </a:p>
        </p:txBody>
      </p:sp>
      <p:sp>
        <p:nvSpPr>
          <p:cNvPr id="8" name="Insight text"/>
          <p:cNvSpPr txBox="1"/>
          <p:nvPr/>
        </p:nvSpPr>
        <p:spPr>
          <a:xfrm>
            <a:off x="8275320" y="2194560"/>
            <a:ext cx="31546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E1E2E"/>
                </a:solidFill>
              </a:rPr>
              <a:t>Pacific: 58.9% purchase rate, +10.8 pp vs baseline, across 192 customers.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E1E2E"/>
                </a:solidFill>
              </a:rPr>
              <a:t>North America sits 4.8 pp below the baseline at 43.3%.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E1E2E"/>
                </a:solidFill>
              </a:rPr>
              <a:t>Europe is close to average at 49.3%.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</a:rPr>
              <a:t>A 2–5 Mile Commute Shows the Highest Rate</a:t>
            </a:r>
            <a:endParaRPr lang="en-US" sz="3200" dirty="0"/>
          </a:p>
        </p:txBody>
      </p:sp>
      <p:sp>
        <p:nvSpPr>
          <p:cNvPr id="3" name="Chart card"/>
          <p:cNvSpPr/>
          <p:nvPr/>
        </p:nvSpPr>
        <p:spPr>
          <a:xfrm>
            <a:off x="548640" y="1371600"/>
            <a:ext cx="722376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508760"/>
          <a:ext cx="68580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Insight card"/>
          <p:cNvSpPr/>
          <p:nvPr/>
        </p:nvSpPr>
        <p:spPr>
          <a:xfrm>
            <a:off x="8046720" y="1371600"/>
            <a:ext cx="3593592" cy="4663440"/>
          </a:xfrm>
          <a:prstGeom prst="roundRect">
            <a:avLst>
              <a:gd name="adj" fmla="val 3053"/>
            </a:avLst>
          </a:prstGeom>
          <a:solidFill>
            <a:srgbClr val="EEF2F9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Insight pill"/>
          <p:cNvSpPr/>
          <p:nvPr/>
        </p:nvSpPr>
        <p:spPr>
          <a:xfrm>
            <a:off x="8275320" y="1600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Insight pill text"/>
          <p:cNvSpPr txBox="1"/>
          <p:nvPr/>
        </p:nvSpPr>
        <p:spPr>
          <a:xfrm>
            <a:off x="8275320" y="1600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KEY INSIGHT</a:t>
            </a:r>
            <a:endParaRPr lang="en-US" dirty="0"/>
          </a:p>
        </p:txBody>
      </p:sp>
      <p:sp>
        <p:nvSpPr>
          <p:cNvPr id="8" name="Insight text"/>
          <p:cNvSpPr txBox="1"/>
          <p:nvPr/>
        </p:nvSpPr>
        <p:spPr>
          <a:xfrm>
            <a:off x="8275320" y="2194560"/>
            <a:ext cx="31546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E1E2E"/>
                </a:solidFill>
              </a:rPr>
              <a:t>2–5 miles: 58.6% purchase rate, +10.5 pp vs baseline, across 162 customers.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E1E2E"/>
                </a:solidFill>
              </a:rPr>
              <a:t>0–1 miles also sits above average at 54.6%.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E1E2E"/>
                </a:solidFill>
              </a:rPr>
              <a:t>10+ miles is lowest at 29.7%, 18.4 pp below baseline.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</a:rPr>
              <a:t>Tier 2: Supporting Insights</a:t>
            </a:r>
            <a:endParaRPr lang="en-US" sz="3200" dirty="0"/>
          </a:p>
        </p:txBody>
      </p:sp>
      <p:sp>
        <p:nvSpPr>
          <p:cNvPr id="3" name="Education card"/>
          <p:cNvSpPr/>
          <p:nvPr/>
        </p:nvSpPr>
        <p:spPr>
          <a:xfrm>
            <a:off x="548640" y="1371600"/>
            <a:ext cx="5449824" cy="2286000"/>
          </a:xfrm>
          <a:prstGeom prst="roundRect">
            <a:avLst>
              <a:gd name="adj" fmla="val 4800"/>
            </a:avLst>
          </a:prstGeom>
          <a:solidFill>
            <a:srgbClr val="EEF2F9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Education pill"/>
          <p:cNvSpPr/>
          <p:nvPr/>
        </p:nvSpPr>
        <p:spPr>
          <a:xfrm>
            <a:off x="822960" y="1600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Education pill text"/>
          <p:cNvSpPr txBox="1"/>
          <p:nvPr/>
        </p:nvSpPr>
        <p:spPr>
          <a:xfrm>
            <a:off x="822960" y="1600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EDUCATION</a:t>
            </a:r>
            <a:endParaRPr lang="en-US" sz="1600" dirty="0"/>
          </a:p>
        </p:txBody>
      </p:sp>
      <p:sp>
        <p:nvSpPr>
          <p:cNvPr id="6" name="Education rate"/>
          <p:cNvSpPr txBox="1"/>
          <p:nvPr/>
        </p:nvSpPr>
        <p:spPr>
          <a:xfrm>
            <a:off x="822960" y="21488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F5597"/>
                </a:solidFill>
              </a:rPr>
              <a:t>55.2%</a:t>
            </a:r>
            <a:endParaRPr lang="en-US" sz="4000" dirty="0"/>
          </a:p>
        </p:txBody>
      </p:sp>
      <p:sp>
        <p:nvSpPr>
          <p:cNvPr id="7" name="Education detail"/>
          <p:cNvSpPr txBox="1"/>
          <p:nvPr/>
        </p:nvSpPr>
        <p:spPr>
          <a:xfrm>
            <a:off x="3017520" y="2148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b="1" dirty="0">
                <a:solidFill>
                  <a:srgbClr val="1E1E2E"/>
                </a:solidFill>
              </a:rPr>
              <a:t>Bachelor’s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1E1E2E"/>
                </a:solidFill>
              </a:rPr>
              <a:t>306 customers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1E1E2E"/>
                </a:solidFill>
              </a:rPr>
              <a:t>above the 48.1% baseline</a:t>
            </a:r>
            <a:endParaRPr lang="en-US" dirty="0"/>
          </a:p>
        </p:txBody>
      </p:sp>
      <p:sp>
        <p:nvSpPr>
          <p:cNvPr id="8" name="Age Group card"/>
          <p:cNvSpPr/>
          <p:nvPr/>
        </p:nvSpPr>
        <p:spPr>
          <a:xfrm>
            <a:off x="6190488" y="1371600"/>
            <a:ext cx="5449824" cy="2286000"/>
          </a:xfrm>
          <a:prstGeom prst="roundRect">
            <a:avLst>
              <a:gd name="adj" fmla="val 4800"/>
            </a:avLst>
          </a:prstGeom>
          <a:solidFill>
            <a:srgbClr val="EEF2F9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Age Group pill"/>
          <p:cNvSpPr/>
          <p:nvPr/>
        </p:nvSpPr>
        <p:spPr>
          <a:xfrm>
            <a:off x="6464808" y="1600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Age Group pill text"/>
          <p:cNvSpPr txBox="1"/>
          <p:nvPr/>
        </p:nvSpPr>
        <p:spPr>
          <a:xfrm>
            <a:off x="6464808" y="1600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AGE GROUP</a:t>
            </a:r>
            <a:endParaRPr lang="en-US" sz="1600" dirty="0"/>
          </a:p>
        </p:txBody>
      </p:sp>
      <p:sp>
        <p:nvSpPr>
          <p:cNvPr id="11" name="Age Group rate"/>
          <p:cNvSpPr txBox="1"/>
          <p:nvPr/>
        </p:nvSpPr>
        <p:spPr>
          <a:xfrm>
            <a:off x="6464808" y="21488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F5597"/>
                </a:solidFill>
              </a:rPr>
              <a:t>54.7%</a:t>
            </a:r>
            <a:endParaRPr lang="en-US" sz="4000" dirty="0"/>
          </a:p>
        </p:txBody>
      </p:sp>
      <p:sp>
        <p:nvSpPr>
          <p:cNvPr id="12" name="Age Group detail"/>
          <p:cNvSpPr txBox="1"/>
          <p:nvPr/>
        </p:nvSpPr>
        <p:spPr>
          <a:xfrm>
            <a:off x="8659368" y="2148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b="1" dirty="0">
                <a:solidFill>
                  <a:srgbClr val="1E1E2E"/>
                </a:solidFill>
              </a:rPr>
              <a:t>Middle-aged adults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1E1E2E"/>
                </a:solidFill>
              </a:rPr>
              <a:t>468 customers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1E1E2E"/>
                </a:solidFill>
              </a:rPr>
              <a:t>above the 48.1% baseline</a:t>
            </a:r>
            <a:endParaRPr lang="en-US" dirty="0"/>
          </a:p>
        </p:txBody>
      </p:sp>
      <p:sp>
        <p:nvSpPr>
          <p:cNvPr id="13" name="Occupation card"/>
          <p:cNvSpPr/>
          <p:nvPr/>
        </p:nvSpPr>
        <p:spPr>
          <a:xfrm>
            <a:off x="548640" y="3840480"/>
            <a:ext cx="5449824" cy="2286000"/>
          </a:xfrm>
          <a:prstGeom prst="roundRect">
            <a:avLst>
              <a:gd name="adj" fmla="val 4800"/>
            </a:avLst>
          </a:prstGeom>
          <a:solidFill>
            <a:srgbClr val="EEF2F9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Occupation pill"/>
          <p:cNvSpPr/>
          <p:nvPr/>
        </p:nvSpPr>
        <p:spPr>
          <a:xfrm>
            <a:off x="822960" y="40690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Occupation pill text"/>
          <p:cNvSpPr txBox="1"/>
          <p:nvPr/>
        </p:nvSpPr>
        <p:spPr>
          <a:xfrm>
            <a:off x="822960" y="40690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OCCUPATION</a:t>
            </a:r>
            <a:endParaRPr lang="en-US" sz="1600" dirty="0"/>
          </a:p>
        </p:txBody>
      </p:sp>
      <p:sp>
        <p:nvSpPr>
          <p:cNvPr id="16" name="Occupation rate"/>
          <p:cNvSpPr txBox="1"/>
          <p:nvPr/>
        </p:nvSpPr>
        <p:spPr>
          <a:xfrm>
            <a:off x="822960" y="4617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F5597"/>
                </a:solidFill>
              </a:rPr>
              <a:t>54.4%</a:t>
            </a:r>
            <a:endParaRPr lang="en-US" sz="4000" dirty="0"/>
          </a:p>
        </p:txBody>
      </p:sp>
      <p:sp>
        <p:nvSpPr>
          <p:cNvPr id="17" name="Occupation detail"/>
          <p:cNvSpPr txBox="1"/>
          <p:nvPr/>
        </p:nvSpPr>
        <p:spPr>
          <a:xfrm>
            <a:off x="3017520" y="4617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b="1" dirty="0">
                <a:solidFill>
                  <a:srgbClr val="1E1E2E"/>
                </a:solidFill>
              </a:rPr>
              <a:t>Professional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1E1E2E"/>
                </a:solidFill>
              </a:rPr>
              <a:t>276 customers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1E1E2E"/>
                </a:solidFill>
              </a:rPr>
              <a:t>above the 48.1% baseline</a:t>
            </a:r>
            <a:endParaRPr lang="en-US" dirty="0"/>
          </a:p>
        </p:txBody>
      </p:sp>
      <p:sp>
        <p:nvSpPr>
          <p:cNvPr id="18" name="Marital Status card"/>
          <p:cNvSpPr/>
          <p:nvPr/>
        </p:nvSpPr>
        <p:spPr>
          <a:xfrm>
            <a:off x="6190488" y="3840480"/>
            <a:ext cx="5449824" cy="2286000"/>
          </a:xfrm>
          <a:prstGeom prst="roundRect">
            <a:avLst>
              <a:gd name="adj" fmla="val 4800"/>
            </a:avLst>
          </a:prstGeom>
          <a:solidFill>
            <a:srgbClr val="EEF2F9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Marital Status pill"/>
          <p:cNvSpPr/>
          <p:nvPr/>
        </p:nvSpPr>
        <p:spPr>
          <a:xfrm>
            <a:off x="6464808" y="40690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Marital Status pill text"/>
          <p:cNvSpPr txBox="1"/>
          <p:nvPr/>
        </p:nvSpPr>
        <p:spPr>
          <a:xfrm>
            <a:off x="6464808" y="40690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MARITAL STATUS</a:t>
            </a:r>
            <a:endParaRPr lang="en-US" sz="1600" dirty="0"/>
          </a:p>
        </p:txBody>
      </p:sp>
      <p:sp>
        <p:nvSpPr>
          <p:cNvPr id="21" name="Marital Status rate"/>
          <p:cNvSpPr txBox="1"/>
          <p:nvPr/>
        </p:nvSpPr>
        <p:spPr>
          <a:xfrm>
            <a:off x="6464808" y="4617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F5597"/>
                </a:solidFill>
              </a:rPr>
              <a:t>54.1%</a:t>
            </a:r>
            <a:endParaRPr lang="en-US" sz="4000" dirty="0"/>
          </a:p>
        </p:txBody>
      </p:sp>
      <p:sp>
        <p:nvSpPr>
          <p:cNvPr id="22" name="Marital Status detail"/>
          <p:cNvSpPr txBox="1"/>
          <p:nvPr/>
        </p:nvSpPr>
        <p:spPr>
          <a:xfrm>
            <a:off x="8659368" y="4617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b="1" dirty="0">
                <a:solidFill>
                  <a:srgbClr val="1E1E2E"/>
                </a:solidFill>
              </a:rPr>
              <a:t>Single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1E1E2E"/>
                </a:solidFill>
              </a:rPr>
              <a:t>462 customers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1E1E2E"/>
                </a:solidFill>
              </a:rPr>
              <a:t>above the 48.1% baseline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B7265-828F-500A-49C4-70CB4BD03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3C5E632-5C23-FDB5-DC0A-1FB6B98E7E4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6F59E1-5963-7755-FFCF-4CC7F1AC00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16" t="8088" r="4375" b="6646"/>
          <a:stretch>
            <a:fillRect/>
          </a:stretch>
        </p:blipFill>
        <p:spPr>
          <a:xfrm>
            <a:off x="0" y="221268"/>
            <a:ext cx="12169628" cy="617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676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</a:rPr>
              <a:t>Recommendations</a:t>
            </a:r>
            <a:endParaRPr lang="en-US" sz="3200" dirty="0"/>
          </a:p>
        </p:txBody>
      </p:sp>
      <p:sp>
        <p:nvSpPr>
          <p:cNvPr id="3" name="Implication card 1"/>
          <p:cNvSpPr/>
          <p:nvPr/>
        </p:nvSpPr>
        <p:spPr>
          <a:xfrm>
            <a:off x="548640" y="1371600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EEF2F9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Implication Prioritise circle"/>
          <p:cNvSpPr/>
          <p:nvPr/>
        </p:nvSpPr>
        <p:spPr>
          <a:xfrm>
            <a:off x="822960" y="1691640"/>
            <a:ext cx="777240" cy="77724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plication Prioritise icon" descr="Implication Prioriti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1885950"/>
            <a:ext cx="388620" cy="388620"/>
          </a:xfrm>
          <a:prstGeom prst="rect">
            <a:avLst/>
          </a:prstGeom>
        </p:spPr>
      </p:pic>
      <p:sp>
        <p:nvSpPr>
          <p:cNvPr id="6" name="Implication title 1"/>
          <p:cNvSpPr txBox="1"/>
          <p:nvPr/>
        </p:nvSpPr>
        <p:spPr>
          <a:xfrm>
            <a:off x="1920240" y="15087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</a:rPr>
              <a:t>Personalize marketing strategy</a:t>
            </a:r>
            <a:endParaRPr lang="en-US" sz="2400" dirty="0"/>
          </a:p>
        </p:txBody>
      </p:sp>
      <p:sp>
        <p:nvSpPr>
          <p:cNvPr id="7" name="Implication text 1"/>
          <p:cNvSpPr txBox="1"/>
          <p:nvPr/>
        </p:nvSpPr>
        <p:spPr>
          <a:xfrm>
            <a:off x="1920240" y="196596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E1E2E"/>
                </a:solidFill>
              </a:rPr>
              <a:t>Use the strongest signals to guide initial targeting and messaging: </a:t>
            </a:r>
          </a:p>
          <a:p>
            <a:pPr marL="0" indent="0">
              <a:buNone/>
            </a:pPr>
            <a:r>
              <a:rPr lang="en-US" dirty="0">
                <a:solidFill>
                  <a:srgbClr val="1E1E2E"/>
                </a:solidFill>
              </a:rPr>
              <a:t>customers with fewer cars, in the Pacific region, with a 2–5 mile commute, or with one child.</a:t>
            </a:r>
            <a:endParaRPr lang="en-US" dirty="0"/>
          </a:p>
        </p:txBody>
      </p:sp>
      <p:sp>
        <p:nvSpPr>
          <p:cNvPr id="8" name="Implication card 2"/>
          <p:cNvSpPr/>
          <p:nvPr/>
        </p:nvSpPr>
        <p:spPr>
          <a:xfrm>
            <a:off x="548640" y="2971800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EEF2F9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Implication Interpret with care circle"/>
          <p:cNvSpPr/>
          <p:nvPr/>
        </p:nvSpPr>
        <p:spPr>
          <a:xfrm>
            <a:off x="822960" y="3291840"/>
            <a:ext cx="777240" cy="77724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Implication title 2"/>
          <p:cNvSpPr txBox="1"/>
          <p:nvPr/>
        </p:nvSpPr>
        <p:spPr>
          <a:xfrm>
            <a:off x="1883788" y="3416024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</a:rPr>
              <a:t>Explore higher purchase regions for potential market</a:t>
            </a:r>
            <a:endParaRPr lang="en-US" sz="2400" dirty="0"/>
          </a:p>
        </p:txBody>
      </p:sp>
      <p:sp>
        <p:nvSpPr>
          <p:cNvPr id="13" name="Implication card 3"/>
          <p:cNvSpPr/>
          <p:nvPr/>
        </p:nvSpPr>
        <p:spPr>
          <a:xfrm>
            <a:off x="548640" y="4572000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EEF2F9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Implication Weigh size and reach circle"/>
          <p:cNvSpPr/>
          <p:nvPr/>
        </p:nvSpPr>
        <p:spPr>
          <a:xfrm>
            <a:off x="822960" y="4892040"/>
            <a:ext cx="777240" cy="77724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plication Weigh size and reach icon" descr="Implication Weigh size and reac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3509319"/>
            <a:ext cx="388620" cy="388620"/>
          </a:xfrm>
          <a:prstGeom prst="rect">
            <a:avLst/>
          </a:prstGeom>
        </p:spPr>
      </p:pic>
      <p:sp>
        <p:nvSpPr>
          <p:cNvPr id="16" name="Implication title 3"/>
          <p:cNvSpPr txBox="1"/>
          <p:nvPr/>
        </p:nvSpPr>
        <p:spPr>
          <a:xfrm>
            <a:off x="1920240" y="47091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597"/>
                </a:solidFill>
              </a:rPr>
              <a:t>Retarget potential customer</a:t>
            </a:r>
            <a:endParaRPr lang="en-US" sz="2400" dirty="0"/>
          </a:p>
        </p:txBody>
      </p:sp>
      <p:sp>
        <p:nvSpPr>
          <p:cNvPr id="17" name="Implication text 3"/>
          <p:cNvSpPr txBox="1"/>
          <p:nvPr/>
        </p:nvSpPr>
        <p:spPr>
          <a:xfrm>
            <a:off x="1920240" y="51663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E1E2E"/>
                </a:solidFill>
              </a:rPr>
              <a:t>Customers who have similar characteristics to existing bike buyers who haven’t purchased can be targeted with follow-up campaigns. 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18" name="Implication Prioritise icon" descr="Implication Prioritise">
            <a:extLst>
              <a:ext uri="{FF2B5EF4-FFF2-40B4-BE49-F238E27FC236}">
                <a16:creationId xmlns:a16="http://schemas.microsoft.com/office/drawing/2014/main" id="{A3E129E8-2871-DAB3-BB92-C06855931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5097780"/>
            <a:ext cx="388620" cy="3886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597"/>
                </a:solidFill>
              </a:rPr>
              <a:t>Limitations and Next Steps</a:t>
            </a:r>
            <a:endParaRPr lang="en-US" sz="3200" dirty="0"/>
          </a:p>
        </p:txBody>
      </p:sp>
      <p:sp>
        <p:nvSpPr>
          <p:cNvPr id="3" name="Limitations card"/>
          <p:cNvSpPr/>
          <p:nvPr/>
        </p:nvSpPr>
        <p:spPr>
          <a:xfrm>
            <a:off x="548640" y="1371600"/>
            <a:ext cx="5449824" cy="4663440"/>
          </a:xfrm>
          <a:prstGeom prst="roundRect">
            <a:avLst>
              <a:gd name="adj" fmla="val 2353"/>
            </a:avLst>
          </a:prstGeom>
          <a:solidFill>
            <a:srgbClr val="EEF2F9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Limitations circle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Limitations icon" descr="Limitatio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737360"/>
            <a:ext cx="274320" cy="274320"/>
          </a:xfrm>
          <a:prstGeom prst="rect">
            <a:avLst/>
          </a:prstGeom>
        </p:spPr>
      </p:pic>
      <p:sp>
        <p:nvSpPr>
          <p:cNvPr id="6" name="Limitations title"/>
          <p:cNvSpPr txBox="1"/>
          <p:nvPr/>
        </p:nvSpPr>
        <p:spPr>
          <a:xfrm>
            <a:off x="1554480" y="1600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Limitations</a:t>
            </a:r>
            <a:endParaRPr lang="en-US" sz="2400" dirty="0"/>
          </a:p>
        </p:txBody>
      </p:sp>
      <p:sp>
        <p:nvSpPr>
          <p:cNvPr id="7" name="Limitations text"/>
          <p:cNvSpPr txBox="1"/>
          <p:nvPr/>
        </p:nvSpPr>
        <p:spPr>
          <a:xfrm>
            <a:off x="822960" y="242316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E1E2E"/>
                </a:solidFill>
              </a:rPr>
              <a:t>Associations are identified, but causation is not established. Thus, use them to shape tests rather than as guarantees.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E1E2E"/>
                </a:solidFill>
              </a:rPr>
              <a:t>Smaller groups can show high or low rates by chance, so read them cautiously.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E1E2E"/>
                </a:solidFill>
              </a:rPr>
              <a:t>The data has no behavioural or marketing variables that could sharpen targeting.</a:t>
            </a:r>
            <a:br>
              <a:rPr lang="en-US" dirty="0">
                <a:solidFill>
                  <a:srgbClr val="1E1E2E"/>
                </a:solidFill>
              </a:rPr>
            </a:br>
            <a:r>
              <a:rPr lang="en-US" dirty="0" err="1">
                <a:solidFill>
                  <a:srgbClr val="1E1E2E"/>
                </a:solidFill>
              </a:rPr>
              <a:t>Eg.</a:t>
            </a:r>
            <a:r>
              <a:rPr lang="en-US" dirty="0">
                <a:solidFill>
                  <a:srgbClr val="1E1E2E"/>
                </a:solidFill>
              </a:rPr>
              <a:t> Prices, time period etc.</a:t>
            </a:r>
            <a:endParaRPr lang="en-US" dirty="0"/>
          </a:p>
        </p:txBody>
      </p:sp>
      <p:sp>
        <p:nvSpPr>
          <p:cNvPr id="8" name="Next steps card"/>
          <p:cNvSpPr/>
          <p:nvPr/>
        </p:nvSpPr>
        <p:spPr>
          <a:xfrm>
            <a:off x="6190488" y="1371600"/>
            <a:ext cx="5449824" cy="4663440"/>
          </a:xfrm>
          <a:prstGeom prst="roundRect">
            <a:avLst>
              <a:gd name="adj" fmla="val 2353"/>
            </a:avLst>
          </a:prstGeom>
          <a:solidFill>
            <a:srgbClr val="EEF2F9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Next steps circle"/>
          <p:cNvSpPr/>
          <p:nvPr/>
        </p:nvSpPr>
        <p:spPr>
          <a:xfrm>
            <a:off x="6464808" y="1600200"/>
            <a:ext cx="548640" cy="54864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Next steps icon" descr="Next step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1737360"/>
            <a:ext cx="274320" cy="274320"/>
          </a:xfrm>
          <a:prstGeom prst="rect">
            <a:avLst/>
          </a:prstGeom>
        </p:spPr>
      </p:pic>
      <p:sp>
        <p:nvSpPr>
          <p:cNvPr id="11" name="Next steps title"/>
          <p:cNvSpPr txBox="1"/>
          <p:nvPr/>
        </p:nvSpPr>
        <p:spPr>
          <a:xfrm>
            <a:off x="7196328" y="1600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Next Steps</a:t>
            </a:r>
            <a:endParaRPr lang="en-US" sz="2400" dirty="0"/>
          </a:p>
        </p:txBody>
      </p:sp>
      <p:sp>
        <p:nvSpPr>
          <p:cNvPr id="12" name="Next steps text"/>
          <p:cNvSpPr txBox="1"/>
          <p:nvPr/>
        </p:nvSpPr>
        <p:spPr>
          <a:xfrm>
            <a:off x="6464808" y="242316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E1E2E"/>
                </a:solidFill>
              </a:rPr>
              <a:t>Combine variables such as car ownership, age group and commute distance into multi-variable segments.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E1E2E"/>
                </a:solidFill>
              </a:rPr>
              <a:t>Validate any combined segment by size and further analysis before using it for targeting.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E1E2E"/>
                </a:solidFill>
              </a:rPr>
              <a:t>Track campaign performance, monitor metrics to determine which strategies work best.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clusion title"/>
          <p:cNvSpPr txBox="1"/>
          <p:nvPr/>
        </p:nvSpPr>
        <p:spPr>
          <a:xfrm>
            <a:off x="822960" y="1280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CONCLUSION</a:t>
            </a:r>
            <a:endParaRPr lang="en-US" sz="4400" dirty="0"/>
          </a:p>
        </p:txBody>
      </p:sp>
      <p:sp>
        <p:nvSpPr>
          <p:cNvPr id="3" name="Conclusion text"/>
          <p:cNvSpPr txBox="1"/>
          <p:nvPr/>
        </p:nvSpPr>
        <p:spPr>
          <a:xfrm>
            <a:off x="822960" y="2468880"/>
            <a:ext cx="102412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The overall bike-purchase rate is 48.1%, the baseline for every group comparison.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The strongest customer characteristics are car ownership, region, commute distance and number of children.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These findings are a practical starting point for segmentation and targeted marketing; multi-variable analysis could sharpen it.</a:t>
            </a:r>
            <a:endParaRPr lang="en-US" sz="2400" dirty="0"/>
          </a:p>
        </p:txBody>
      </p:sp>
      <p:sp>
        <p:nvSpPr>
          <p:cNvPr id="4" name="Closing line"/>
          <p:cNvSpPr txBox="1"/>
          <p:nvPr/>
        </p:nvSpPr>
        <p:spPr>
          <a:xfrm>
            <a:off x="7315200" y="6035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DCE4F5"/>
                </a:solidFill>
              </a:rPr>
              <a:t>Thank you  | 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dals Dashboard">
  <a:themeElements>
    <a:clrScheme name="Pedals Dashboard">
      <a:dk1>
        <a:srgbClr val="1E1E2E"/>
      </a:dk1>
      <a:lt1>
        <a:srgbClr val="FFFFFF"/>
      </a:lt1>
      <a:dk2>
        <a:srgbClr val="2F5597"/>
      </a:dk2>
      <a:lt2>
        <a:srgbClr val="EEF2F9"/>
      </a:lt2>
      <a:accent1>
        <a:srgbClr val="2F5597"/>
      </a:accent1>
      <a:accent2>
        <a:srgbClr val="7030A0"/>
      </a:accent2>
      <a:accent3>
        <a:srgbClr val="4472C4"/>
      </a:accent3>
      <a:accent4>
        <a:srgbClr val="A9BBDD"/>
      </a:accent4>
      <a:accent5>
        <a:srgbClr val="ED7D31"/>
      </a:accent5>
      <a:accent6>
        <a:srgbClr val="7F7F7F"/>
      </a:accent6>
      <a:hlink>
        <a:srgbClr val="2F5597"/>
      </a:hlink>
      <a:folHlink>
        <a:srgbClr val="7030A0"/>
      </a:folHlink>
    </a:clrScheme>
    <a:fontScheme name="Pedals Dashboar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502</TotalTime>
  <Words>855</Words>
  <Application>Microsoft Office PowerPoint</Application>
  <PresentationFormat>Widescreen</PresentationFormat>
  <Paragraphs>160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Pedals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Pedals Customer Analysis - Template</dc:title>
  <dc:subject>PptxGenJS Presentation</dc:subject>
  <dc:creator>PptxGenJS</dc:creator>
  <cp:lastModifiedBy>jesse edem</cp:lastModifiedBy>
  <cp:revision>15</cp:revision>
  <dcterms:created xsi:type="dcterms:W3CDTF">2026-10-07T22:31:38Z</dcterms:created>
  <dcterms:modified xsi:type="dcterms:W3CDTF">2026-10-08T14:13:32Z</dcterms:modified>
</cp:coreProperties>
</file>